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5.xml" ContentType="application/vnd.openxmlformats-officedocument.theme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theme/theme6.xml" ContentType="application/vnd.openxmlformats-officedocument.theme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theme/theme7.xml" ContentType="application/vnd.openxmlformats-officedocument.theme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theme/theme8.xml" ContentType="application/vnd.openxmlformats-officedocument.theme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theme/theme9.xml" ContentType="application/vnd.openxmlformats-officedocument.theme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theme/theme10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  <p:sldMasterId id="2147483684" r:id="rId3"/>
    <p:sldMasterId id="2147483696" r:id="rId4"/>
    <p:sldMasterId id="2147483708" r:id="rId5"/>
    <p:sldMasterId id="2147483720" r:id="rId6"/>
    <p:sldMasterId id="2147483732" r:id="rId7"/>
    <p:sldMasterId id="2147483744" r:id="rId8"/>
    <p:sldMasterId id="2147483756" r:id="rId9"/>
    <p:sldMasterId id="2147483768" r:id="rId10"/>
  </p:sldMasterIdLst>
  <p:sldIdLst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7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37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3.xml"/><Relationship Id="rId18" Type="http://schemas.openxmlformats.org/officeDocument/2006/relationships/slide" Target="slides/slide8.xml"/><Relationship Id="rId3" Type="http://schemas.openxmlformats.org/officeDocument/2006/relationships/slideMaster" Target="slideMasters/slideMaster3.xml"/><Relationship Id="rId21" Type="http://schemas.openxmlformats.org/officeDocument/2006/relationships/presProps" Target="presProps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2.xml"/><Relationship Id="rId17" Type="http://schemas.openxmlformats.org/officeDocument/2006/relationships/slide" Target="slides/slide7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6.xml"/><Relationship Id="rId20" Type="http://schemas.openxmlformats.org/officeDocument/2006/relationships/slide" Target="slides/slide10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1.xml"/><Relationship Id="rId24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5.xml"/><Relationship Id="rId23" Type="http://schemas.openxmlformats.org/officeDocument/2006/relationships/theme" Target="theme/theme1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9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4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0" i="0" u="none" strike="noStrike" kern="1200" cap="none" spc="5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Sites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noFill/>
              <a:ln w="25400" cap="flat" cmpd="sng" algn="ctr">
                <a:solidFill>
                  <a:schemeClr val="accent1"/>
                </a:solidFill>
                <a:miter lim="800000"/>
              </a:ln>
              <a:effectLst/>
            </c:spPr>
          </c:dPt>
          <c:dPt>
            <c:idx val="1"/>
            <c:invertIfNegative val="1"/>
            <c:bubble3D val="0"/>
            <c:spPr>
              <a:noFill/>
              <a:ln w="25400" cap="flat" cmpd="sng" algn="ctr">
                <a:solidFill>
                  <a:schemeClr val="accent2"/>
                </a:solidFill>
                <a:miter lim="800000"/>
              </a:ln>
              <a:effectLst/>
            </c:spPr>
          </c:dPt>
          <c:cat>
            <c:strRef>
              <c:f>Sheet1!$A$2:$A$3</c:f>
              <c:strCache>
                <c:ptCount val="2"/>
                <c:pt idx="0">
                  <c:v>Q1 2026</c:v>
                </c:pt>
                <c:pt idx="1">
                  <c:v>Q2 2026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971181</c:v>
                </c:pt>
                <c:pt idx="1">
                  <c:v>1069681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671-478E-87D4-A855A3DB8C4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64"/>
        <c:overlap val="-3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206802733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1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1" i="0" u="none" strike="noStrike" kern="1200" cap="all" spc="5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Rate (%)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170B-4736-A729-BC7359DB4799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170B-4736-A729-BC7359DB4799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layout/>
              </c:ext>
            </c:extLst>
          </c:dLbls>
          <c:cat>
            <c:strRef>
              <c:f>Sheet1!$A$2:$A$3</c:f>
              <c:strCache>
                <c:ptCount val="2"/>
                <c:pt idx="0">
                  <c:v>Quick-commerce</c:v>
                </c:pt>
                <c:pt idx="1">
                  <c:v>Traditional e-commerce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0.4</c:v>
                </c:pt>
                <c:pt idx="1">
                  <c:v>0.1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170B-4736-A729-BC7359DB4799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t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1">
  <cs:axisTitle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dataLabel>
  <cs:dataLabelCallout>
    <cs:lnRef idx="0"/>
    <cs:fillRef idx="0"/>
    <cs:effectRef idx="0"/>
    <cs:fontRef idx="minor">
      <a:schemeClr val="bg1"/>
    </cs:fontRef>
    <cs:spPr>
      <a:solidFill>
        <a:schemeClr val="tx1">
          <a:lumMod val="35000"/>
          <a:lumOff val="65000"/>
        </a:schemeClr>
      </a:solidFill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/>
    <cs:effectRef idx="0"/>
    <cs:fontRef idx="minor">
      <a:schemeClr val="dk1"/>
    </cs:fontRef>
    <cs:spPr>
      <a:noFill/>
      <a:ln w="25400" cap="flat" cmpd="sng" algn="ctr">
        <a:solidFill>
          <a:schemeClr val="phClr"/>
        </a:solidFill>
        <a:miter lim="800000"/>
      </a:ln>
    </cs:spPr>
  </cs:dataPoint>
  <cs:dataPoint3D>
    <cs:lnRef idx="0">
      <cs:styleClr val="auto"/>
    </cs:lnRef>
    <cs:fillRef idx="0">
      <cs:styleClr val="auto"/>
    </cs:fillRef>
    <cs:effectRef idx="0"/>
    <cs:fontRef idx="minor">
      <a:schemeClr val="dk1"/>
    </cs:fontRef>
    <cs:spPr>
      <a:ln w="19050" cap="flat" cmpd="sng" algn="ctr">
        <a:solidFill>
          <a:schemeClr val="phClr"/>
        </a:solidFill>
        <a:miter lim="800000"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ln w="19050" cap="rnd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1"/>
    <cs:effectRef idx="0"/>
    <cs:fontRef idx="minor">
      <a:schemeClr val="tx1"/>
    </cs:fontRef>
    <cs:spPr>
      <a:ln w="9525">
        <a:solidFill>
          <a:schemeClr val="phClr"/>
        </a:solidFill>
      </a:ln>
    </cs:spPr>
  </cs:dataPointWireframe>
  <cs:dataTable>
    <cs:lnRef idx="0"/>
    <cs:fillRef idx="0"/>
    <cs:effectRef idx="0"/>
    <cs:fontRef idx="minor">
      <a:schemeClr val="tx1">
        <a:lumMod val="50000"/>
        <a:lumOff val="50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>
        <a:solidFill>
          <a:schemeClr val="tx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200" b="0" kern="1200" cap="none" spc="5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5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defRPr sz="1197" b="1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scene3d>
        <a:camera prst="orthographicFront"/>
        <a:lightRig rig="brightRoom" dir="t"/>
      </a:scene3d>
      <a:sp3d prstMaterial="flat">
        <a:bevelT w="50800" h="101600" prst="angle"/>
        <a:contourClr>
          <a:srgbClr val="000000"/>
        </a:contourClr>
      </a:sp3d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1" i="0" kern="1200" cap="all" spc="5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BCAD085-E8A6-8845-BD4E-CB4CCA059FC4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10/2/2026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FF6DA9-008F-8B48-92A6-B652298478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797863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BCAD085-E8A6-8845-BD4E-CB4CCA059FC4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10/2/2026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FF6DA9-008F-8B48-92A6-B652298478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452701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BCAD085-E8A6-8845-BD4E-CB4CCA059FC4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10/2/2026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FF6DA9-008F-8B48-92A6-B652298478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955214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BCAD085-E8A6-8845-BD4E-CB4CCA059FC4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10/2/2026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FF6DA9-008F-8B48-92A6-B652298478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463878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BCAD085-E8A6-8845-BD4E-CB4CCA059FC4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10/2/2026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FF6DA9-008F-8B48-92A6-B652298478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333669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BCAD085-E8A6-8845-BD4E-CB4CCA059FC4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10/2/2026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FF6DA9-008F-8B48-92A6-B652298478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568323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BCAD085-E8A6-8845-BD4E-CB4CCA059FC4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10/2/2026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FF6DA9-008F-8B48-92A6-B652298478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720893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BCAD085-E8A6-8845-BD4E-CB4CCA059FC4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10/2/2026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FF6DA9-008F-8B48-92A6-B652298478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398663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BCAD085-E8A6-8845-BD4E-CB4CCA059FC4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10/2/2026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FF6DA9-008F-8B48-92A6-B652298478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25128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BCAD085-E8A6-8845-BD4E-CB4CCA059FC4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10/2/2026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FF6DA9-008F-8B48-92A6-B652298478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100370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BCAD085-E8A6-8845-BD4E-CB4CCA059FC4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10/2/2026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FF6DA9-008F-8B48-92A6-B652298478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470641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BCAD085-E8A6-8845-BD4E-CB4CCA059FC4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10/2/2026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FF6DA9-008F-8B48-92A6-B652298478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287766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BCAD085-E8A6-8845-BD4E-CB4CCA059FC4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10/2/2026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FF6DA9-008F-8B48-92A6-B652298478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605131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BCAD085-E8A6-8845-BD4E-CB4CCA059FC4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10/2/2026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FF6DA9-008F-8B48-92A6-B652298478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634043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BCAD085-E8A6-8845-BD4E-CB4CCA059FC4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10/2/2026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FF6DA9-008F-8B48-92A6-B652298478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694691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BCAD085-E8A6-8845-BD4E-CB4CCA059FC4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10/2/2026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FF6DA9-008F-8B48-92A6-B652298478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780122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BCAD085-E8A6-8845-BD4E-CB4CCA059FC4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10/2/2026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FF6DA9-008F-8B48-92A6-B652298478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0021125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BCAD085-E8A6-8845-BD4E-CB4CCA059FC4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10/2/2026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FF6DA9-008F-8B48-92A6-B652298478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0214596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BCAD085-E8A6-8845-BD4E-CB4CCA059FC4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10/2/2026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FF6DA9-008F-8B48-92A6-B652298478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1074819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BCAD085-E8A6-8845-BD4E-CB4CCA059FC4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10/2/2026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FF6DA9-008F-8B48-92A6-B652298478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2353322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BCAD085-E8A6-8845-BD4E-CB4CCA059FC4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10/2/2026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FF6DA9-008F-8B48-92A6-B652298478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3216998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BCAD085-E8A6-8845-BD4E-CB4CCA059FC4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10/2/2026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FF6DA9-008F-8B48-92A6-B652298478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1255500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BCAD085-E8A6-8845-BD4E-CB4CCA059FC4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10/2/2026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FF6DA9-008F-8B48-92A6-B652298478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4895528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BCAD085-E8A6-8845-BD4E-CB4CCA059FC4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10/2/2026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FF6DA9-008F-8B48-92A6-B652298478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5910512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BCAD085-E8A6-8845-BD4E-CB4CCA059FC4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10/2/2026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FF6DA9-008F-8B48-92A6-B652298478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0399872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BCAD085-E8A6-8845-BD4E-CB4CCA059FC4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10/2/2026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FF6DA9-008F-8B48-92A6-B652298478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5486354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BCAD085-E8A6-8845-BD4E-CB4CCA059FC4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10/2/2026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FF6DA9-008F-8B48-92A6-B652298478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24054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BCAD085-E8A6-8845-BD4E-CB4CCA059FC4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10/2/2026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FF6DA9-008F-8B48-92A6-B652298478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9087580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BCAD085-E8A6-8845-BD4E-CB4CCA059FC4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10/2/2026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FF6DA9-008F-8B48-92A6-B652298478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1028112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BCAD085-E8A6-8845-BD4E-CB4CCA059FC4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10/2/2026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FF6DA9-008F-8B48-92A6-B652298478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966678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BCAD085-E8A6-8845-BD4E-CB4CCA059FC4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10/2/2026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FF6DA9-008F-8B48-92A6-B652298478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5494940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BCAD085-E8A6-8845-BD4E-CB4CCA059FC4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10/2/2026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FF6DA9-008F-8B48-92A6-B652298478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0468359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BCAD085-E8A6-8845-BD4E-CB4CCA059FC4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10/2/2026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FF6DA9-008F-8B48-92A6-B652298478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6525069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BCAD085-E8A6-8845-BD4E-CB4CCA059FC4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10/2/2026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FF6DA9-008F-8B48-92A6-B652298478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5791470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BCAD085-E8A6-8845-BD4E-CB4CCA059FC4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10/2/2026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FF6DA9-008F-8B48-92A6-B652298478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0674118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BCAD085-E8A6-8845-BD4E-CB4CCA059FC4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10/2/2026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FF6DA9-008F-8B48-92A6-B652298478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9904438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BCAD085-E8A6-8845-BD4E-CB4CCA059FC4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10/2/2026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FF6DA9-008F-8B48-92A6-B652298478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6716843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BCAD085-E8A6-8845-BD4E-CB4CCA059FC4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10/2/2026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FF6DA9-008F-8B48-92A6-B652298478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7814149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BCAD085-E8A6-8845-BD4E-CB4CCA059FC4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10/2/2026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FF6DA9-008F-8B48-92A6-B652298478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6526519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BCAD085-E8A6-8845-BD4E-CB4CCA059FC4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10/2/2026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FF6DA9-008F-8B48-92A6-B652298478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5022301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BCAD085-E8A6-8845-BD4E-CB4CCA059FC4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10/2/2026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FF6DA9-008F-8B48-92A6-B652298478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2787441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BCAD085-E8A6-8845-BD4E-CB4CCA059FC4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10/2/2026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FF6DA9-008F-8B48-92A6-B652298478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6075942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BCAD085-E8A6-8845-BD4E-CB4CCA059FC4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10/2/2026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FF6DA9-008F-8B48-92A6-B652298478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3876689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BCAD085-E8A6-8845-BD4E-CB4CCA059FC4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10/2/2026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FF6DA9-008F-8B48-92A6-B652298478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9554136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BCAD085-E8A6-8845-BD4E-CB4CCA059FC4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10/2/2026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FF6DA9-008F-8B48-92A6-B652298478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23565261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BCAD085-E8A6-8845-BD4E-CB4CCA059FC4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10/2/2026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FF6DA9-008F-8B48-92A6-B652298478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2672372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BCAD085-E8A6-8845-BD4E-CB4CCA059FC4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10/2/2026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FF6DA9-008F-8B48-92A6-B652298478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7478784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BCAD085-E8A6-8845-BD4E-CB4CCA059FC4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10/2/2026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FF6DA9-008F-8B48-92A6-B652298478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36475390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BCAD085-E8A6-8845-BD4E-CB4CCA059FC4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10/2/2026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FF6DA9-008F-8B48-92A6-B652298478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27340916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BCAD085-E8A6-8845-BD4E-CB4CCA059FC4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10/2/2026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FF6DA9-008F-8B48-92A6-B652298478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47814961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BCAD085-E8A6-8845-BD4E-CB4CCA059FC4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10/2/2026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FF6DA9-008F-8B48-92A6-B652298478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43467557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BCAD085-E8A6-8845-BD4E-CB4CCA059FC4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10/2/2026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FF6DA9-008F-8B48-92A6-B652298478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89553173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BCAD085-E8A6-8845-BD4E-CB4CCA059FC4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10/2/2026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FF6DA9-008F-8B48-92A6-B652298478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8942690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BCAD085-E8A6-8845-BD4E-CB4CCA059FC4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10/2/2026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FF6DA9-008F-8B48-92A6-B652298478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45180516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BCAD085-E8A6-8845-BD4E-CB4CCA059FC4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10/2/2026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FF6DA9-008F-8B48-92A6-B652298478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83474102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BCAD085-E8A6-8845-BD4E-CB4CCA059FC4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10/2/2026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FF6DA9-008F-8B48-92A6-B652298478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38173578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BCAD085-E8A6-8845-BD4E-CB4CCA059FC4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10/2/2026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FF6DA9-008F-8B48-92A6-B652298478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18565889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BCAD085-E8A6-8845-BD4E-CB4CCA059FC4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10/2/2026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FF6DA9-008F-8B48-92A6-B652298478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53607008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BCAD085-E8A6-8845-BD4E-CB4CCA059FC4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10/2/2026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FF6DA9-008F-8B48-92A6-B652298478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6717019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BCAD085-E8A6-8845-BD4E-CB4CCA059FC4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10/2/2026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FF6DA9-008F-8B48-92A6-B652298478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72134420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BCAD085-E8A6-8845-BD4E-CB4CCA059FC4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10/2/2026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FF6DA9-008F-8B48-92A6-B652298478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19007824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BCAD085-E8A6-8845-BD4E-CB4CCA059FC4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10/2/2026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FF6DA9-008F-8B48-92A6-B652298478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7682425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BCAD085-E8A6-8845-BD4E-CB4CCA059FC4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10/2/2026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FF6DA9-008F-8B48-92A6-B652298478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20452488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BCAD085-E8A6-8845-BD4E-CB4CCA059FC4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10/2/2026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FF6DA9-008F-8B48-92A6-B652298478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87394374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BCAD085-E8A6-8845-BD4E-CB4CCA059FC4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10/2/2026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FF6DA9-008F-8B48-92A6-B652298478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7384438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BCAD085-E8A6-8845-BD4E-CB4CCA059FC4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10/2/2026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FF6DA9-008F-8B48-92A6-B652298478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56426256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BCAD085-E8A6-8845-BD4E-CB4CCA059FC4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10/2/2026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FF6DA9-008F-8B48-92A6-B652298478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91428097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BCAD085-E8A6-8845-BD4E-CB4CCA059FC4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10/2/2026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FF6DA9-008F-8B48-92A6-B652298478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8537908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BCAD085-E8A6-8845-BD4E-CB4CCA059FC4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10/2/2026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FF6DA9-008F-8B48-92A6-B652298478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69758429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BCAD085-E8A6-8845-BD4E-CB4CCA059FC4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10/2/2026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FF6DA9-008F-8B48-92A6-B652298478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19505957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BCAD085-E8A6-8845-BD4E-CB4CCA059FC4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10/2/2026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FF6DA9-008F-8B48-92A6-B652298478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40318317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BCAD085-E8A6-8845-BD4E-CB4CCA059FC4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10/2/2026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FF6DA9-008F-8B48-92A6-B652298478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86689542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BCAD085-E8A6-8845-BD4E-CB4CCA059FC4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10/2/2026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FF6DA9-008F-8B48-92A6-B652298478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27719890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BCAD085-E8A6-8845-BD4E-CB4CCA059FC4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10/2/2026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FF6DA9-008F-8B48-92A6-B652298478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77982246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BCAD085-E8A6-8845-BD4E-CB4CCA059FC4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10/2/2026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FF6DA9-008F-8B48-92A6-B652298478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89943866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BCAD085-E8A6-8845-BD4E-CB4CCA059FC4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10/2/2026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FF6DA9-008F-8B48-92A6-B652298478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77074873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BCAD085-E8A6-8845-BD4E-CB4CCA059FC4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10/2/2026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FF6DA9-008F-8B48-92A6-B652298478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29213329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BCAD085-E8A6-8845-BD4E-CB4CCA059FC4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10/2/2026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FF6DA9-008F-8B48-92A6-B652298478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59965579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BCAD085-E8A6-8845-BD4E-CB4CCA059FC4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10/2/2026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FF6DA9-008F-8B48-92A6-B652298478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61556525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BCAD085-E8A6-8845-BD4E-CB4CCA059FC4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10/2/2026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FF6DA9-008F-8B48-92A6-B652298478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44288077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BCAD085-E8A6-8845-BD4E-CB4CCA059FC4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10/2/2026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FF6DA9-008F-8B48-92A6-B652298478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2120191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BCAD085-E8A6-8845-BD4E-CB4CCA059FC4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10/2/2026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FF6DA9-008F-8B48-92A6-B652298478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30794604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BCAD085-E8A6-8845-BD4E-CB4CCA059FC4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10/2/2026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FF6DA9-008F-8B48-92A6-B652298478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76976522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BCAD085-E8A6-8845-BD4E-CB4CCA059FC4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10/2/2026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FF6DA9-008F-8B48-92A6-B652298478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19091131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BCAD085-E8A6-8845-BD4E-CB4CCA059FC4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10/2/2026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FF6DA9-008F-8B48-92A6-B652298478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91538287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BCAD085-E8A6-8845-BD4E-CB4CCA059FC4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10/2/2026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FF6DA9-008F-8B48-92A6-B652298478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67376527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BCAD085-E8A6-8845-BD4E-CB4CCA059FC4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10/2/2026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FF6DA9-008F-8B48-92A6-B652298478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71070722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BCAD085-E8A6-8845-BD4E-CB4CCA059FC4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10/2/2026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FF6DA9-008F-8B48-92A6-B652298478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65979350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BCAD085-E8A6-8845-BD4E-CB4CCA059FC4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10/2/2026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FF6DA9-008F-8B48-92A6-B652298478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10883750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BCAD085-E8A6-8845-BD4E-CB4CCA059FC4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10/2/2026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FF6DA9-008F-8B48-92A6-B652298478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44519800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BCAD085-E8A6-8845-BD4E-CB4CCA059FC4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10/2/2026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FF6DA9-008F-8B48-92A6-B652298478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61813993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BCAD085-E8A6-8845-BD4E-CB4CCA059FC4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10/2/2026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FF6DA9-008F-8B48-92A6-B652298478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18735162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BCAD085-E8A6-8845-BD4E-CB4CCA059FC4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10/2/2026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FF6DA9-008F-8B48-92A6-B652298478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76773415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BCAD085-E8A6-8845-BD4E-CB4CCA059FC4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10/2/2026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FF6DA9-008F-8B48-92A6-B652298478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65904878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BCAD085-E8A6-8845-BD4E-CB4CCA059FC4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10/2/2026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FF6DA9-008F-8B48-92A6-B652298478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86714370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BCAD085-E8A6-8845-BD4E-CB4CCA059FC4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10/2/2026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FF6DA9-008F-8B48-92A6-B652298478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28751742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BCAD085-E8A6-8845-BD4E-CB4CCA059FC4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10/2/2026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FF6DA9-008F-8B48-92A6-B652298478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84037715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BCAD085-E8A6-8845-BD4E-CB4CCA059FC4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10/2/2026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FF6DA9-008F-8B48-92A6-B652298478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48574761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BCAD085-E8A6-8845-BD4E-CB4CCA059FC4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10/2/2026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FF6DA9-008F-8B48-92A6-B652298478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32892894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BCAD085-E8A6-8845-BD4E-CB4CCA059FC4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10/2/2026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FF6DA9-008F-8B48-92A6-B652298478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67369530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BCAD085-E8A6-8845-BD4E-CB4CCA059FC4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10/2/2026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FF6DA9-008F-8B48-92A6-B652298478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50408208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BCAD085-E8A6-8845-BD4E-CB4CCA059FC4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10/2/2026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FF6DA9-008F-8B48-92A6-B652298478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07172915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BCAD085-E8A6-8845-BD4E-CB4CCA059FC4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10/2/2026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FF6DA9-008F-8B48-92A6-B652298478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46107799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BCAD085-E8A6-8845-BD4E-CB4CCA059FC4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10/2/2026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FF6DA9-008F-8B48-92A6-B652298478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69964438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BCAD085-E8A6-8845-BD4E-CB4CCA059FC4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10/2/2026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FF6DA9-008F-8B48-92A6-B652298478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45311293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BCAD085-E8A6-8845-BD4E-CB4CCA059FC4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10/2/2026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FF6DA9-008F-8B48-92A6-B652298478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54593326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BCAD085-E8A6-8845-BD4E-CB4CCA059FC4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10/2/2026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FF6DA9-008F-8B48-92A6-B652298478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74532273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BCAD085-E8A6-8845-BD4E-CB4CCA059FC4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10/2/2026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FF6DA9-008F-8B48-92A6-B652298478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67777150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BCAD085-E8A6-8845-BD4E-CB4CCA059FC4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10/2/2026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FF6DA9-008F-8B48-92A6-B652298478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325102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BCAD085-E8A6-8845-BD4E-CB4CCA059FC4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10/2/2026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FF6DA9-008F-8B48-92A6-B652298478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261085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3.xml"/><Relationship Id="rId3" Type="http://schemas.openxmlformats.org/officeDocument/2006/relationships/slideLayout" Target="../slideLayouts/slideLayout58.xml"/><Relationship Id="rId7" Type="http://schemas.openxmlformats.org/officeDocument/2006/relationships/slideLayout" Target="../slideLayouts/slideLayout62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57.xml"/><Relationship Id="rId1" Type="http://schemas.openxmlformats.org/officeDocument/2006/relationships/slideLayout" Target="../slideLayouts/slideLayout56.xml"/><Relationship Id="rId6" Type="http://schemas.openxmlformats.org/officeDocument/2006/relationships/slideLayout" Target="../slideLayouts/slideLayout61.xml"/><Relationship Id="rId11" Type="http://schemas.openxmlformats.org/officeDocument/2006/relationships/slideLayout" Target="../slideLayouts/slideLayout66.xml"/><Relationship Id="rId5" Type="http://schemas.openxmlformats.org/officeDocument/2006/relationships/slideLayout" Target="../slideLayouts/slideLayout60.xml"/><Relationship Id="rId10" Type="http://schemas.openxmlformats.org/officeDocument/2006/relationships/slideLayout" Target="../slideLayouts/slideLayout65.xml"/><Relationship Id="rId4" Type="http://schemas.openxmlformats.org/officeDocument/2006/relationships/slideLayout" Target="../slideLayouts/slideLayout59.xml"/><Relationship Id="rId9" Type="http://schemas.openxmlformats.org/officeDocument/2006/relationships/slideLayout" Target="../slideLayouts/slideLayout64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4.xml"/><Relationship Id="rId3" Type="http://schemas.openxmlformats.org/officeDocument/2006/relationships/slideLayout" Target="../slideLayouts/slideLayout69.xml"/><Relationship Id="rId7" Type="http://schemas.openxmlformats.org/officeDocument/2006/relationships/slideLayout" Target="../slideLayouts/slideLayout73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68.xml"/><Relationship Id="rId1" Type="http://schemas.openxmlformats.org/officeDocument/2006/relationships/slideLayout" Target="../slideLayouts/slideLayout67.xml"/><Relationship Id="rId6" Type="http://schemas.openxmlformats.org/officeDocument/2006/relationships/slideLayout" Target="../slideLayouts/slideLayout72.xml"/><Relationship Id="rId11" Type="http://schemas.openxmlformats.org/officeDocument/2006/relationships/slideLayout" Target="../slideLayouts/slideLayout77.xml"/><Relationship Id="rId5" Type="http://schemas.openxmlformats.org/officeDocument/2006/relationships/slideLayout" Target="../slideLayouts/slideLayout71.xml"/><Relationship Id="rId10" Type="http://schemas.openxmlformats.org/officeDocument/2006/relationships/slideLayout" Target="../slideLayouts/slideLayout76.xml"/><Relationship Id="rId4" Type="http://schemas.openxmlformats.org/officeDocument/2006/relationships/slideLayout" Target="../slideLayouts/slideLayout70.xml"/><Relationship Id="rId9" Type="http://schemas.openxmlformats.org/officeDocument/2006/relationships/slideLayout" Target="../slideLayouts/slideLayout75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5.xml"/><Relationship Id="rId3" Type="http://schemas.openxmlformats.org/officeDocument/2006/relationships/slideLayout" Target="../slideLayouts/slideLayout80.xml"/><Relationship Id="rId7" Type="http://schemas.openxmlformats.org/officeDocument/2006/relationships/slideLayout" Target="../slideLayouts/slideLayout84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79.xml"/><Relationship Id="rId1" Type="http://schemas.openxmlformats.org/officeDocument/2006/relationships/slideLayout" Target="../slideLayouts/slideLayout78.xml"/><Relationship Id="rId6" Type="http://schemas.openxmlformats.org/officeDocument/2006/relationships/slideLayout" Target="../slideLayouts/slideLayout83.xml"/><Relationship Id="rId11" Type="http://schemas.openxmlformats.org/officeDocument/2006/relationships/slideLayout" Target="../slideLayouts/slideLayout88.xml"/><Relationship Id="rId5" Type="http://schemas.openxmlformats.org/officeDocument/2006/relationships/slideLayout" Target="../slideLayouts/slideLayout82.xml"/><Relationship Id="rId10" Type="http://schemas.openxmlformats.org/officeDocument/2006/relationships/slideLayout" Target="../slideLayouts/slideLayout87.xml"/><Relationship Id="rId4" Type="http://schemas.openxmlformats.org/officeDocument/2006/relationships/slideLayout" Target="../slideLayouts/slideLayout81.xml"/><Relationship Id="rId9" Type="http://schemas.openxmlformats.org/officeDocument/2006/relationships/slideLayout" Target="../slideLayouts/slideLayout86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6.xml"/><Relationship Id="rId3" Type="http://schemas.openxmlformats.org/officeDocument/2006/relationships/slideLayout" Target="../slideLayouts/slideLayout91.xml"/><Relationship Id="rId7" Type="http://schemas.openxmlformats.org/officeDocument/2006/relationships/slideLayout" Target="../slideLayouts/slideLayout95.xml"/><Relationship Id="rId12" Type="http://schemas.openxmlformats.org/officeDocument/2006/relationships/theme" Target="../theme/theme9.xml"/><Relationship Id="rId2" Type="http://schemas.openxmlformats.org/officeDocument/2006/relationships/slideLayout" Target="../slideLayouts/slideLayout90.xml"/><Relationship Id="rId1" Type="http://schemas.openxmlformats.org/officeDocument/2006/relationships/slideLayout" Target="../slideLayouts/slideLayout89.xml"/><Relationship Id="rId6" Type="http://schemas.openxmlformats.org/officeDocument/2006/relationships/slideLayout" Target="../slideLayouts/slideLayout94.xml"/><Relationship Id="rId11" Type="http://schemas.openxmlformats.org/officeDocument/2006/relationships/slideLayout" Target="../slideLayouts/slideLayout99.xml"/><Relationship Id="rId5" Type="http://schemas.openxmlformats.org/officeDocument/2006/relationships/slideLayout" Target="../slideLayouts/slideLayout93.xml"/><Relationship Id="rId10" Type="http://schemas.openxmlformats.org/officeDocument/2006/relationships/slideLayout" Target="../slideLayouts/slideLayout98.xml"/><Relationship Id="rId4" Type="http://schemas.openxmlformats.org/officeDocument/2006/relationships/slideLayout" Target="../slideLayouts/slideLayout92.xml"/><Relationship Id="rId9" Type="http://schemas.openxmlformats.org/officeDocument/2006/relationships/slideLayout" Target="../slideLayouts/slideLayout97.xml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7.xml"/><Relationship Id="rId3" Type="http://schemas.openxmlformats.org/officeDocument/2006/relationships/slideLayout" Target="../slideLayouts/slideLayout102.xml"/><Relationship Id="rId7" Type="http://schemas.openxmlformats.org/officeDocument/2006/relationships/slideLayout" Target="../slideLayouts/slideLayout106.xml"/><Relationship Id="rId12" Type="http://schemas.openxmlformats.org/officeDocument/2006/relationships/theme" Target="../theme/theme10.xml"/><Relationship Id="rId2" Type="http://schemas.openxmlformats.org/officeDocument/2006/relationships/slideLayout" Target="../slideLayouts/slideLayout101.xml"/><Relationship Id="rId1" Type="http://schemas.openxmlformats.org/officeDocument/2006/relationships/slideLayout" Target="../slideLayouts/slideLayout100.xml"/><Relationship Id="rId6" Type="http://schemas.openxmlformats.org/officeDocument/2006/relationships/slideLayout" Target="../slideLayouts/slideLayout105.xml"/><Relationship Id="rId11" Type="http://schemas.openxmlformats.org/officeDocument/2006/relationships/slideLayout" Target="../slideLayouts/slideLayout110.xml"/><Relationship Id="rId5" Type="http://schemas.openxmlformats.org/officeDocument/2006/relationships/slideLayout" Target="../slideLayouts/slideLayout104.xml"/><Relationship Id="rId10" Type="http://schemas.openxmlformats.org/officeDocument/2006/relationships/slideLayout" Target="../slideLayouts/slideLayout109.xml"/><Relationship Id="rId4" Type="http://schemas.openxmlformats.org/officeDocument/2006/relationships/slideLayout" Target="../slideLayouts/slideLayout103.xml"/><Relationship Id="rId9" Type="http://schemas.openxmlformats.org/officeDocument/2006/relationships/slideLayout" Target="../slideLayouts/slideLayout10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BCAD085-E8A6-8845-BD4E-CB4CCA059FC4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10/2/2026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FF6DA9-008F-8B48-92A6-B652298478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859041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BCAD085-E8A6-8845-BD4E-CB4CCA059FC4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10/2/2026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FF6DA9-008F-8B48-92A6-B652298478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134064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BCAD085-E8A6-8845-BD4E-CB4CCA059FC4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10/2/2026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FF6DA9-008F-8B48-92A6-B652298478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518678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BCAD085-E8A6-8845-BD4E-CB4CCA059FC4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10/2/2026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FF6DA9-008F-8B48-92A6-B652298478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02842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BCAD085-E8A6-8845-BD4E-CB4CCA059FC4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10/2/2026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FF6DA9-008F-8B48-92A6-B652298478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539525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BCAD085-E8A6-8845-BD4E-CB4CCA059FC4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10/2/2026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FF6DA9-008F-8B48-92A6-B652298478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187491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BCAD085-E8A6-8845-BD4E-CB4CCA059FC4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10/2/2026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FF6DA9-008F-8B48-92A6-B652298478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9119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BCAD085-E8A6-8845-BD4E-CB4CCA059FC4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10/2/2026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FF6DA9-008F-8B48-92A6-B652298478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490813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BCAD085-E8A6-8845-BD4E-CB4CCA059FC4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10/2/2026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FF6DA9-008F-8B48-92A6-B652298478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85923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BCAD085-E8A6-8845-BD4E-CB4CCA059FC4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10/2/2026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FF6DA9-008F-8B48-92A6-B652298478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45456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4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658368" y="658368"/>
            <a:ext cx="7132320" cy="63094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5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PHISHING</a:t>
            </a:r>
            <a:r>
              <a:rPr kumimoji="0" lang="en-IN" sz="3500" b="1" i="0" u="none" strike="noStrike" kern="1200" cap="none" spc="0" normalizeH="0" noProof="0" dirty="0" smtClean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</a:t>
            </a:r>
            <a:r>
              <a:rPr kumimoji="0" sz="35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AWARENESS</a:t>
            </a:r>
            <a:endParaRPr kumimoji="0" sz="3500" b="1" i="0" u="none" strike="noStrike" kern="1200" cap="none" spc="0" normalizeH="0" baseline="0" noProof="0" dirty="0">
              <a:ln>
                <a:noFill/>
              </a:ln>
              <a:solidFill>
                <a:srgbClr val="F8FAFC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94944" y="2331720"/>
            <a:ext cx="676656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E2E9F2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Simple habits that stop </a:t>
            </a:r>
            <a:r>
              <a:rPr kumimoji="0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E2E9F2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real</a:t>
            </a:r>
            <a:r>
              <a:rPr kumimoji="0" lang="en-IN" sz="1800" b="0" i="0" u="none" strike="noStrike" kern="1200" cap="none" spc="0" normalizeH="0" noProof="0" dirty="0" smtClean="0">
                <a:ln>
                  <a:noFill/>
                </a:ln>
                <a:solidFill>
                  <a:srgbClr val="E2E9F2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</a:t>
            </a:r>
            <a:r>
              <a:rPr kumimoji="0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E2E9F2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world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E2E9F2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attacks.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3182112"/>
            <a:ext cx="66751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500" b="1" i="0" u="none" strike="noStrike" kern="1200" cap="none" spc="0" normalizeH="0" baseline="0" noProof="0" dirty="0">
                <a:ln>
                  <a:noFill/>
                </a:ln>
                <a:solidFill>
                  <a:srgbClr val="2AB8DC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Think before you click.
Verify before you trust.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" y="6172200"/>
            <a:ext cx="4114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9DABC2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CYBERSECURITY AWARENESS • 2026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 rotWithShape="1">
          <a:blip r:embed="rId2"/>
          <a:srcRect l="6016" t="21278" r="-583" b="26050"/>
          <a:stretch/>
        </p:blipFill>
        <p:spPr>
          <a:xfrm>
            <a:off x="7717536" y="18288"/>
            <a:ext cx="4456176" cy="3493008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3175" cap="sq">
            <a:solidFill>
              <a:schemeClr val="tx1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8" name="TextBox 7"/>
          <p:cNvSpPr txBox="1"/>
          <p:nvPr/>
        </p:nvSpPr>
        <p:spPr>
          <a:xfrm>
            <a:off x="704088" y="5458968"/>
            <a:ext cx="5486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96A8C2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Presented by • Jayakrushna Behera</a:t>
            </a:r>
          </a:p>
        </p:txBody>
      </p:sp>
    </p:spTree>
    <p:extLst>
      <p:ext uri="{BB962C8B-B14F-4D97-AF65-F5344CB8AC3E}">
        <p14:creationId xmlns:p14="http://schemas.microsoft.com/office/powerpoint/2010/main" val="27723822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2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181594" y="0"/>
            <a:ext cx="4007358" cy="6858000"/>
          </a:xfrm>
          <a:prstGeom prst="rect">
            <a:avLst/>
          </a:prstGeom>
          <a:solidFill>
            <a:srgbClr val="1221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85800" y="659926"/>
            <a:ext cx="66751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100" b="1" i="0" u="none" strike="noStrike" kern="1200" cap="none" spc="0" normalizeH="0" baseline="0" noProof="0">
                <a:ln>
                  <a:noFill/>
                </a:ln>
                <a:solidFill>
                  <a:srgbClr val="2ABED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What is a phishing attack?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3013" y="1434578"/>
            <a:ext cx="681228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DCE5F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A phishing attack is a fake message, call, website or file that pretends to be trustworthy so an attacker can trick you into taking an unsafe action.</a:t>
            </a:r>
          </a:p>
        </p:txBody>
      </p:sp>
      <p:grpSp>
        <p:nvGrpSpPr>
          <p:cNvPr id="26" name="Group 25"/>
          <p:cNvGrpSpPr/>
          <p:nvPr/>
        </p:nvGrpSpPr>
        <p:grpSpPr>
          <a:xfrm>
            <a:off x="880110" y="3272431"/>
            <a:ext cx="6963156" cy="1143000"/>
            <a:chOff x="781812" y="4091940"/>
            <a:chExt cx="6963156" cy="1143000"/>
          </a:xfrm>
        </p:grpSpPr>
        <p:sp>
          <p:nvSpPr>
            <p:cNvPr id="6" name="Rounded Rectangle 5"/>
            <p:cNvSpPr/>
            <p:nvPr/>
          </p:nvSpPr>
          <p:spPr>
            <a:xfrm>
              <a:off x="781812" y="4091940"/>
              <a:ext cx="2176272" cy="1143000"/>
            </a:xfrm>
            <a:prstGeom prst="roundRect">
              <a:avLst/>
            </a:prstGeom>
            <a:solidFill>
              <a:srgbClr val="182B4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grpSp>
          <p:nvGrpSpPr>
            <p:cNvPr id="25" name="Group 24"/>
            <p:cNvGrpSpPr/>
            <p:nvPr/>
          </p:nvGrpSpPr>
          <p:grpSpPr>
            <a:xfrm>
              <a:off x="923544" y="4091940"/>
              <a:ext cx="6821424" cy="1143000"/>
              <a:chOff x="859536" y="4069080"/>
              <a:chExt cx="6821424" cy="1143000"/>
            </a:xfrm>
          </p:grpSpPr>
          <p:sp>
            <p:nvSpPr>
              <p:cNvPr id="7" name="Oval 6"/>
              <p:cNvSpPr/>
              <p:nvPr/>
            </p:nvSpPr>
            <p:spPr>
              <a:xfrm>
                <a:off x="859536" y="4270248"/>
                <a:ext cx="393192" cy="393192"/>
              </a:xfrm>
              <a:prstGeom prst="ellipse">
                <a:avLst/>
              </a:prstGeom>
              <a:solidFill>
                <a:srgbClr val="2B6FE0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8" name="TextBox 7"/>
              <p:cNvSpPr txBox="1"/>
              <p:nvPr/>
            </p:nvSpPr>
            <p:spPr>
              <a:xfrm>
                <a:off x="859536" y="4270248"/>
                <a:ext cx="393192" cy="393192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1000" b="1" i="0" u="none" strike="noStrike" kern="1200" cap="none" spc="0" normalizeH="0" baseline="0" noProof="0">
                    <a:ln>
                      <a:noFill/>
                    </a:ln>
                    <a:solidFill>
                      <a:srgbClr val="F8FAFD"/>
                    </a:solidFill>
                    <a:effectLst/>
                    <a:uLnTx/>
                    <a:uFillTx/>
                    <a:latin typeface="Aptos"/>
                    <a:ea typeface="+mn-ea"/>
                    <a:cs typeface="+mn-cs"/>
                  </a:rPr>
                  <a:t>1</a:t>
                </a:r>
              </a:p>
            </p:txBody>
          </p:sp>
          <p:sp>
            <p:nvSpPr>
              <p:cNvPr id="9" name="TextBox 8"/>
              <p:cNvSpPr txBox="1"/>
              <p:nvPr/>
            </p:nvSpPr>
            <p:spPr>
              <a:xfrm>
                <a:off x="1207008" y="4343400"/>
                <a:ext cx="1280160" cy="228600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11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8FAFD"/>
                    </a:solidFill>
                    <a:effectLst/>
                    <a:uLnTx/>
                    <a:uFillTx/>
                    <a:latin typeface="Aptos"/>
                    <a:ea typeface="+mn-ea"/>
                    <a:cs typeface="+mn-cs"/>
                  </a:rPr>
                  <a:t>TRUST</a:t>
                </a:r>
              </a:p>
            </p:txBody>
          </p:sp>
          <p:sp>
            <p:nvSpPr>
              <p:cNvPr id="10" name="TextBox 9"/>
              <p:cNvSpPr txBox="1"/>
              <p:nvPr/>
            </p:nvSpPr>
            <p:spPr>
              <a:xfrm>
                <a:off x="1051560" y="4700016"/>
                <a:ext cx="1783080" cy="438912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DCE5F0"/>
                    </a:solidFill>
                    <a:effectLst/>
                    <a:uLnTx/>
                    <a:uFillTx/>
                    <a:latin typeface="Aptos"/>
                    <a:ea typeface="+mn-ea"/>
                    <a:cs typeface="+mn-cs"/>
                  </a:rPr>
                  <a:t>Fake bank, boss, delivery, IT or colleague</a:t>
                </a:r>
              </a:p>
            </p:txBody>
          </p:sp>
          <p:sp>
            <p:nvSpPr>
              <p:cNvPr id="11" name="Rounded Rectangle 10"/>
              <p:cNvSpPr/>
              <p:nvPr/>
            </p:nvSpPr>
            <p:spPr>
              <a:xfrm>
                <a:off x="3090672" y="4069080"/>
                <a:ext cx="2176272" cy="1143000"/>
              </a:xfrm>
              <a:prstGeom prst="roundRect">
                <a:avLst/>
              </a:prstGeom>
              <a:solidFill>
                <a:srgbClr val="182B46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2" name="Oval 11"/>
              <p:cNvSpPr/>
              <p:nvPr/>
            </p:nvSpPr>
            <p:spPr>
              <a:xfrm>
                <a:off x="3255264" y="4270248"/>
                <a:ext cx="393192" cy="393192"/>
              </a:xfrm>
              <a:prstGeom prst="ellipse">
                <a:avLst/>
              </a:prstGeom>
              <a:solidFill>
                <a:srgbClr val="F49937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3" name="TextBox 12"/>
              <p:cNvSpPr txBox="1"/>
              <p:nvPr/>
            </p:nvSpPr>
            <p:spPr>
              <a:xfrm>
                <a:off x="3255264" y="4270248"/>
                <a:ext cx="393192" cy="393192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1000" b="1" i="0" u="none" strike="noStrike" kern="1200" cap="none" spc="0" normalizeH="0" baseline="0" noProof="0">
                    <a:ln>
                      <a:noFill/>
                    </a:ln>
                    <a:solidFill>
                      <a:srgbClr val="F8FAFD"/>
                    </a:solidFill>
                    <a:effectLst/>
                    <a:uLnTx/>
                    <a:uFillTx/>
                    <a:latin typeface="Aptos"/>
                    <a:ea typeface="+mn-ea"/>
                    <a:cs typeface="+mn-cs"/>
                  </a:rPr>
                  <a:t>2</a:t>
                </a:r>
              </a:p>
            </p:txBody>
          </p:sp>
          <p:sp>
            <p:nvSpPr>
              <p:cNvPr id="14" name="TextBox 13"/>
              <p:cNvSpPr txBox="1"/>
              <p:nvPr/>
            </p:nvSpPr>
            <p:spPr>
              <a:xfrm>
                <a:off x="3621024" y="4343400"/>
                <a:ext cx="1280160" cy="228600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11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8FAFD"/>
                    </a:solidFill>
                    <a:effectLst/>
                    <a:uLnTx/>
                    <a:uFillTx/>
                    <a:latin typeface="Aptos"/>
                    <a:ea typeface="+mn-ea"/>
                    <a:cs typeface="+mn-cs"/>
                  </a:rPr>
                  <a:t>ACTION</a:t>
                </a:r>
              </a:p>
            </p:txBody>
          </p:sp>
          <p:sp>
            <p:nvSpPr>
              <p:cNvPr id="15" name="TextBox 14"/>
              <p:cNvSpPr txBox="1"/>
              <p:nvPr/>
            </p:nvSpPr>
            <p:spPr>
              <a:xfrm>
                <a:off x="3474720" y="4709160"/>
                <a:ext cx="2075688" cy="230832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DCE5F0"/>
                    </a:solidFill>
                    <a:effectLst/>
                    <a:uLnTx/>
                    <a:uFillTx/>
                    <a:latin typeface="Aptos"/>
                    <a:ea typeface="+mn-ea"/>
                    <a:cs typeface="+mn-cs"/>
                  </a:rPr>
                  <a:t>Click • login • open • pay • share</a:t>
                </a:r>
              </a:p>
            </p:txBody>
          </p:sp>
          <p:sp>
            <p:nvSpPr>
              <p:cNvPr id="16" name="Rounded Rectangle 15"/>
              <p:cNvSpPr/>
              <p:nvPr/>
            </p:nvSpPr>
            <p:spPr>
              <a:xfrm>
                <a:off x="5486400" y="4069080"/>
                <a:ext cx="2176272" cy="1143000"/>
              </a:xfrm>
              <a:prstGeom prst="roundRect">
                <a:avLst/>
              </a:prstGeom>
              <a:solidFill>
                <a:srgbClr val="182B46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7" name="Oval 16"/>
              <p:cNvSpPr/>
              <p:nvPr/>
            </p:nvSpPr>
            <p:spPr>
              <a:xfrm>
                <a:off x="5650992" y="4270248"/>
                <a:ext cx="393192" cy="393192"/>
              </a:xfrm>
              <a:prstGeom prst="ellipse">
                <a:avLst/>
              </a:prstGeom>
              <a:solidFill>
                <a:srgbClr val="E24545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8" name="TextBox 17"/>
              <p:cNvSpPr txBox="1"/>
              <p:nvPr/>
            </p:nvSpPr>
            <p:spPr>
              <a:xfrm>
                <a:off x="5650992" y="4270248"/>
                <a:ext cx="393192" cy="393192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1000" b="1" i="0" u="none" strike="noStrike" kern="1200" cap="none" spc="0" normalizeH="0" baseline="0" noProof="0">
                    <a:ln>
                      <a:noFill/>
                    </a:ln>
                    <a:solidFill>
                      <a:srgbClr val="F8FAFD"/>
                    </a:solidFill>
                    <a:effectLst/>
                    <a:uLnTx/>
                    <a:uFillTx/>
                    <a:latin typeface="Aptos"/>
                    <a:ea typeface="+mn-ea"/>
                    <a:cs typeface="+mn-cs"/>
                  </a:rPr>
                  <a:t>3</a:t>
                </a:r>
              </a:p>
            </p:txBody>
          </p:sp>
          <p:sp>
            <p:nvSpPr>
              <p:cNvPr id="19" name="TextBox 18"/>
              <p:cNvSpPr txBox="1"/>
              <p:nvPr/>
            </p:nvSpPr>
            <p:spPr>
              <a:xfrm>
                <a:off x="6007608" y="4343400"/>
                <a:ext cx="1280160" cy="228600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F8FAFD"/>
                    </a:solidFill>
                    <a:effectLst/>
                    <a:uLnTx/>
                    <a:uFillTx/>
                    <a:latin typeface="Aptos"/>
                    <a:ea typeface="+mn-ea"/>
                    <a:cs typeface="+mn-cs"/>
                  </a:rPr>
                  <a:t>IMPACT</a:t>
                </a:r>
              </a:p>
            </p:txBody>
          </p:sp>
          <p:sp>
            <p:nvSpPr>
              <p:cNvPr id="20" name="TextBox 19"/>
              <p:cNvSpPr txBox="1"/>
              <p:nvPr/>
            </p:nvSpPr>
            <p:spPr>
              <a:xfrm>
                <a:off x="5897880" y="4690872"/>
                <a:ext cx="1783080" cy="438912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DCE5F0"/>
                    </a:solidFill>
                    <a:effectLst/>
                    <a:uLnTx/>
                    <a:uFillTx/>
                    <a:latin typeface="Aptos"/>
                    <a:ea typeface="+mn-ea"/>
                    <a:cs typeface="+mn-cs"/>
                  </a:rPr>
                  <a:t>Account • data • money loss</a:t>
                </a:r>
              </a:p>
            </p:txBody>
          </p:sp>
        </p:grpSp>
      </p:grpSp>
      <p:sp>
        <p:nvSpPr>
          <p:cNvPr id="21" name="Rounded Rectangle 20"/>
          <p:cNvSpPr/>
          <p:nvPr/>
        </p:nvSpPr>
        <p:spPr>
          <a:xfrm>
            <a:off x="8956548" y="643531"/>
            <a:ext cx="2514600" cy="5257800"/>
          </a:xfrm>
          <a:prstGeom prst="roundRect">
            <a:avLst/>
          </a:prstGeom>
          <a:solidFill>
            <a:srgbClr val="182B46"/>
          </a:solidFill>
          <a:ln>
            <a:solidFill>
              <a:srgbClr val="002060"/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235440" y="1143000"/>
            <a:ext cx="1965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2ABED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THE GOLDEN RULE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53728" y="1828800"/>
            <a:ext cx="1920240" cy="3017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1" i="0" u="none" strike="noStrike" kern="1200" cap="none" spc="0" normalizeH="0" baseline="0" noProof="0" dirty="0">
                <a:ln>
                  <a:noFill/>
                </a:ln>
                <a:solidFill>
                  <a:srgbClr val="F8FAF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STOP
↓
CHECK
↓
VERIFY
↓
REPORT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25712" y="5257800"/>
            <a:ext cx="2148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96A8C2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Don’t let urgency make the decision for you.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09960" y="6473952"/>
            <a:ext cx="45720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6A8C2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0</a:t>
            </a:r>
            <a:r>
              <a:rPr kumimoji="0" lang="en-IN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6A8C2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1</a:t>
            </a:r>
            <a:endParaRPr kumimoji="0" sz="800" b="1" i="0" u="none" strike="noStrike" kern="1200" cap="none" spc="0" normalizeH="0" baseline="0" noProof="0" dirty="0">
              <a:ln>
                <a:noFill/>
              </a:ln>
              <a:solidFill>
                <a:srgbClr val="96A8C2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411413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2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694944"/>
            <a:ext cx="109728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700" b="1" i="0" u="none" strike="noStrike" kern="1200" cap="none" spc="0" normalizeH="0" baseline="0" noProof="0">
                <a:ln>
                  <a:noFill/>
                </a:ln>
                <a:solidFill>
                  <a:srgbClr val="F8FAF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How many types of phishing attacks?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71016"/>
            <a:ext cx="10789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96A8C2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Six common forms — the channel changes, but the trick is the same.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828800"/>
            <a:ext cx="3401568" cy="1261872"/>
          </a:xfrm>
          <a:prstGeom prst="roundRect">
            <a:avLst/>
          </a:prstGeom>
          <a:solidFill>
            <a:srgbClr val="18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04672" y="1993392"/>
            <a:ext cx="1234440" cy="310896"/>
          </a:xfrm>
          <a:prstGeom prst="roundRect">
            <a:avLst/>
          </a:prstGeom>
          <a:solidFill>
            <a:srgbClr val="2B6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04672" y="2011680"/>
            <a:ext cx="12344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F8FAF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EMAIL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404872"/>
            <a:ext cx="2926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F8FAF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Fake invoice / password reset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706624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1200" cap="none" spc="0" normalizeH="0" baseline="0" noProof="0">
                <a:ln>
                  <a:noFill/>
                </a:ln>
                <a:solidFill>
                  <a:srgbClr val="96A8C2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Spear phishing: targeted email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25696" y="1828800"/>
            <a:ext cx="3401568" cy="1261872"/>
          </a:xfrm>
          <a:prstGeom prst="roundRect">
            <a:avLst/>
          </a:prstGeom>
          <a:solidFill>
            <a:srgbClr val="18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608576" y="1993392"/>
            <a:ext cx="1234440" cy="310896"/>
          </a:xfrm>
          <a:prstGeom prst="roundRect">
            <a:avLst/>
          </a:prstGeom>
          <a:solidFill>
            <a:srgbClr val="E2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608576" y="2011680"/>
            <a:ext cx="12344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F8FAF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SPEAR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08576" y="2404872"/>
            <a:ext cx="2926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F8FAF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Personalised attack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08576" y="2706624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1200" cap="none" spc="0" normalizeH="0" baseline="0" noProof="0">
                <a:ln>
                  <a:noFill/>
                </a:ln>
                <a:solidFill>
                  <a:srgbClr val="96A8C2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Uses role/company details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1828800"/>
            <a:ext cx="3401568" cy="1261872"/>
          </a:xfrm>
          <a:prstGeom prst="roundRect">
            <a:avLst/>
          </a:prstGeom>
          <a:solidFill>
            <a:srgbClr val="18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412480" y="1993392"/>
            <a:ext cx="1234440" cy="310896"/>
          </a:xfrm>
          <a:prstGeom prst="roundRect">
            <a:avLst/>
          </a:prstGeom>
          <a:solidFill>
            <a:srgbClr val="F49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412480" y="2011680"/>
            <a:ext cx="12344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F8FAF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SMISHING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404872"/>
            <a:ext cx="2926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F8FAF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SMS / chat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2706624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1200" cap="none" spc="0" normalizeH="0" baseline="0" noProof="0">
                <a:ln>
                  <a:noFill/>
                </a:ln>
                <a:solidFill>
                  <a:srgbClr val="96A8C2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Delivery, bank or account alert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3337560"/>
            <a:ext cx="3401568" cy="1261872"/>
          </a:xfrm>
          <a:prstGeom prst="roundRect">
            <a:avLst/>
          </a:prstGeom>
          <a:solidFill>
            <a:srgbClr val="18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804672" y="3502152"/>
            <a:ext cx="1234440" cy="310896"/>
          </a:xfrm>
          <a:prstGeom prst="roundRect">
            <a:avLst/>
          </a:prstGeom>
          <a:solidFill>
            <a:srgbClr val="2FA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04672" y="3520440"/>
            <a:ext cx="12344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F8FAF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VISHING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" y="3913632"/>
            <a:ext cx="2926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F8FAF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Phone call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" y="4215383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1200" cap="none" spc="0" normalizeH="0" baseline="0" noProof="0">
                <a:ln>
                  <a:noFill/>
                </a:ln>
                <a:solidFill>
                  <a:srgbClr val="96A8C2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Fake bank / IT / support agent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25696" y="3337560"/>
            <a:ext cx="3401568" cy="1261872"/>
          </a:xfrm>
          <a:prstGeom prst="roundRect">
            <a:avLst/>
          </a:prstGeom>
          <a:solidFill>
            <a:srgbClr val="18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4608576" y="3502152"/>
            <a:ext cx="1234440" cy="310896"/>
          </a:xfrm>
          <a:prstGeom prst="roundRect">
            <a:avLst/>
          </a:prstGeom>
          <a:solidFill>
            <a:srgbClr val="856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608576" y="3520440"/>
            <a:ext cx="12344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F8FAF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WHALING / BEC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08576" y="3913632"/>
            <a:ext cx="2926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F8FAF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Executive / payment fraud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08576" y="4215383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1200" cap="none" spc="0" normalizeH="0" baseline="0" noProof="0">
                <a:ln>
                  <a:noFill/>
                </a:ln>
                <a:solidFill>
                  <a:srgbClr val="96A8C2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Impersonates senior staff or partners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0" y="3337560"/>
            <a:ext cx="3401568" cy="1261872"/>
          </a:xfrm>
          <a:prstGeom prst="roundRect">
            <a:avLst/>
          </a:prstGeom>
          <a:solidFill>
            <a:srgbClr val="18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8412480" y="3502152"/>
            <a:ext cx="1234440" cy="310896"/>
          </a:xfrm>
          <a:prstGeom prst="roundRect">
            <a:avLst/>
          </a:prstGeom>
          <a:solidFill>
            <a:srgbClr val="2AB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412480" y="3520440"/>
            <a:ext cx="12344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F8FAF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QR PHISHING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3913632"/>
            <a:ext cx="2926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F8FAF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Malicious QR code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0" y="4215383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1200" cap="none" spc="0" normalizeH="0" baseline="0" noProof="0">
                <a:ln>
                  <a:noFill/>
                </a:ln>
                <a:solidFill>
                  <a:srgbClr val="96A8C2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Fake login or payment page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75488" y="5048696"/>
            <a:ext cx="10927080" cy="749808"/>
          </a:xfrm>
          <a:prstGeom prst="roundRect">
            <a:avLst/>
          </a:prstGeom>
          <a:solidFill>
            <a:srgbClr val="1D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850392" y="5230368"/>
            <a:ext cx="13258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 dirty="0">
                <a:ln>
                  <a:noFill/>
                </a:ln>
                <a:solidFill>
                  <a:srgbClr val="2ABED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2026 REAL EXAMPLE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45920" y="5295584"/>
            <a:ext cx="8961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 dirty="0">
                <a:ln>
                  <a:noFill/>
                </a:ln>
                <a:solidFill>
                  <a:srgbClr val="F8FAF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CERT-In reported compromised WhatsApp accounts sending malicious .VBS files disguised as invoices, bank statements and payment records.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1" i="0" u="none" strike="noStrike" kern="1200" cap="none" spc="0" normalizeH="0" baseline="0" noProof="0">
                <a:ln>
                  <a:noFill/>
                </a:ln>
                <a:solidFill>
                  <a:srgbClr val="96A8C2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02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2648" y="6473952"/>
            <a:ext cx="10058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1200" cap="none" spc="0" normalizeH="0" baseline="0" noProof="0">
                <a:ln>
                  <a:noFill/>
                </a:ln>
                <a:solidFill>
                  <a:srgbClr val="96A8C2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Source: CERT-In, June 25, 2026</a:t>
            </a:r>
          </a:p>
        </p:txBody>
      </p:sp>
    </p:spTree>
    <p:extLst>
      <p:ext uri="{BB962C8B-B14F-4D97-AF65-F5344CB8AC3E}">
        <p14:creationId xmlns:p14="http://schemas.microsoft.com/office/powerpoint/2010/main" val="4097385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2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694944"/>
            <a:ext cx="109728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700" b="1" i="0" u="none" strike="noStrike" kern="1200" cap="none" spc="0" normalizeH="0" baseline="0" noProof="0">
                <a:ln>
                  <a:noFill/>
                </a:ln>
                <a:solidFill>
                  <a:srgbClr val="F8FAF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Phishing in 2026 — India &amp; worldwide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71016"/>
            <a:ext cx="10789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96A8C2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Current figures are awareness signals; different sources measure different things.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783080"/>
            <a:ext cx="5486400" cy="4251960"/>
          </a:xfrm>
          <a:prstGeom prst="roundRect">
            <a:avLst/>
          </a:prstGeom>
          <a:solidFill>
            <a:srgbClr val="18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68680" y="2011680"/>
            <a:ext cx="1828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2ABED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WORLDWIDE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359152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F8FAF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Unique phishing sites detected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822960" y="2834640"/>
          <a:ext cx="4983480" cy="2148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68680" y="5193792"/>
            <a:ext cx="4800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DCE5F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Q2 2026: 1,069,681 unique phishing sites
APWG also reported phishing attacks up 10.1% in Q2.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783080"/>
            <a:ext cx="5257800" cy="4251960"/>
          </a:xfrm>
          <a:prstGeom prst="roundRect">
            <a:avLst/>
          </a:prstGeom>
          <a:solidFill>
            <a:srgbClr val="18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583680" y="2011680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2ABED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INDIA — QUICK-COMMERCE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359152"/>
            <a:ext cx="3383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F8FAF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Suspected phishing rate</a:t>
            </a:r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6446520" y="2788920"/>
          <a:ext cx="2834640" cy="2468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9372600" y="3291840"/>
            <a:ext cx="1600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00" b="1" i="0" u="none" strike="noStrike" kern="1200" cap="none" spc="0" normalizeH="0" baseline="0" noProof="0">
                <a:ln>
                  <a:noFill/>
                </a:ln>
                <a:solidFill>
                  <a:srgbClr val="F49937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0.4% vs 0.1%
≈ 4×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76288" y="5193792"/>
            <a:ext cx="46177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 dirty="0">
                <a:ln>
                  <a:noFill/>
                </a:ln>
                <a:solidFill>
                  <a:srgbClr val="DCE5F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India news: I4C identified at least 57 Firebase-hosted sites/databases in Aug. 2026 used for malware or sensitive-data theft; some mimicked Indian banks.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1" i="0" u="none" strike="noStrike" kern="1200" cap="none" spc="0" normalizeH="0" baseline="0" noProof="0">
                <a:ln>
                  <a:noFill/>
                </a:ln>
                <a:solidFill>
                  <a:srgbClr val="96A8C2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" y="6473952"/>
            <a:ext cx="10058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1200" cap="none" spc="0" normalizeH="0" baseline="0" noProof="0">
                <a:ln>
                  <a:noFill/>
                </a:ln>
                <a:solidFill>
                  <a:srgbClr val="96A8C2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Sources: APWG Q2 2026; Statista/APWG; ET CISO/Bureau 2026; Reuters, Aug. 21, 2026</a:t>
            </a:r>
          </a:p>
        </p:txBody>
      </p:sp>
    </p:spTree>
    <p:extLst>
      <p:ext uri="{BB962C8B-B14F-4D97-AF65-F5344CB8AC3E}">
        <p14:creationId xmlns:p14="http://schemas.microsoft.com/office/powerpoint/2010/main" val="3717413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2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694944"/>
            <a:ext cx="10972800" cy="5078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700" b="1" i="0" u="none" strike="noStrike" kern="1200" cap="none" spc="0" normalizeH="0" baseline="0" noProof="0" dirty="0">
                <a:ln>
                  <a:noFill/>
                </a:ln>
                <a:solidFill>
                  <a:srgbClr val="F8FAF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Recognize phishing emails </a:t>
            </a:r>
            <a:r>
              <a:rPr kumimoji="0" lang="en-IN" sz="2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8FAF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and</a:t>
            </a:r>
            <a:r>
              <a:rPr kumimoji="0" sz="2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8FAF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</a:t>
            </a:r>
            <a:r>
              <a:rPr kumimoji="0" sz="2700" b="1" i="0" u="none" strike="noStrike" kern="1200" cap="none" spc="0" normalizeH="0" baseline="0" noProof="0" dirty="0">
                <a:ln>
                  <a:noFill/>
                </a:ln>
                <a:solidFill>
                  <a:srgbClr val="F8FAF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fake websites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71016"/>
            <a:ext cx="10789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96A8C2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Look beyond logos and grammar. Check the sender, URL and request.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783080"/>
            <a:ext cx="5394960" cy="4343400"/>
          </a:xfrm>
          <a:prstGeom prst="round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68680" y="2011680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E24545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EMAIL EXAMPLE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39572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E24545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From: security@micros0ft-support.example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761488"/>
            <a:ext cx="4572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1C2A3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Subject: Your account will be disabled in 15 minutes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383280"/>
            <a:ext cx="44805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1C2A3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We detected unusual activity.
Verify your account immediately.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4224528"/>
            <a:ext cx="1645920" cy="475488"/>
          </a:xfrm>
          <a:prstGeom prst="roundRect">
            <a:avLst/>
          </a:prstGeom>
          <a:solidFill>
            <a:srgbClr val="2B6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68680" y="4315968"/>
            <a:ext cx="1645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F8FAF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VERIFY ACCOUNT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5010912"/>
            <a:ext cx="10972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E24545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RED FLAGS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46504" y="5010912"/>
            <a:ext cx="36118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 dirty="0">
                <a:ln>
                  <a:noFill/>
                </a:ln>
                <a:solidFill>
                  <a:srgbClr val="1C2A3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Wrong sender • urgency • unexpected action • unknown link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6208" y="1783080"/>
            <a:ext cx="5321808" cy="4343400"/>
          </a:xfrm>
          <a:prstGeom prst="roundRect">
            <a:avLst/>
          </a:prstGeom>
          <a:solidFill>
            <a:srgbClr val="18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510528" y="2011680"/>
            <a:ext cx="23774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F49937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FAKE WEBSITE EXAMPLE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10528" y="2423160"/>
            <a:ext cx="4754880" cy="438912"/>
          </a:xfrm>
          <a:prstGeom prst="round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675120" y="2542032"/>
            <a:ext cx="42976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E24545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https://sbi-secure-login.example/verify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92240" y="3118105"/>
            <a:ext cx="4754880" cy="2331720"/>
          </a:xfrm>
          <a:prstGeom prst="round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556248" y="3313732"/>
            <a:ext cx="4114800" cy="3539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C2A3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   NET-</a:t>
            </a:r>
            <a:r>
              <a:rPr kumimoji="0" sz="1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C2A3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B</a:t>
            </a:r>
            <a:r>
              <a:rPr kumimoji="0" lang="en-IN" sz="1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C2A3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ANKING</a:t>
            </a:r>
            <a:endParaRPr kumimoji="0" sz="1700" b="1" i="0" u="none" strike="noStrike" kern="1200" cap="none" spc="0" normalizeH="0" baseline="0" noProof="0" dirty="0">
              <a:ln>
                <a:noFill/>
              </a:ln>
              <a:solidFill>
                <a:srgbClr val="1C2A3F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7918704" y="4178808"/>
            <a:ext cx="950976" cy="18288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818120" y="4754880"/>
            <a:ext cx="21031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F8FAF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LOGIN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720840" y="4946904"/>
            <a:ext cx="1828800" cy="310896"/>
          </a:xfrm>
          <a:prstGeom prst="roundRect">
            <a:avLst/>
          </a:prstGeom>
          <a:solidFill>
            <a:srgbClr val="E2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720840" y="4983479"/>
            <a:ext cx="18288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F8FAF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CHECK REAL DOMAIN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05088" y="4946904"/>
            <a:ext cx="246888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https + correct domain + no strange spelling + no pressure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1" i="0" u="none" strike="noStrike" kern="1200" cap="none" spc="0" normalizeH="0" baseline="0" noProof="0">
                <a:ln>
                  <a:noFill/>
                </a:ln>
                <a:solidFill>
                  <a:srgbClr val="96A8C2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" y="6473952"/>
            <a:ext cx="10058400" cy="20005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srgbClr val="96A8C2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2026 India examples included fake bank / government impersonation pages; always verify through the official app or typed </a:t>
            </a:r>
            <a:r>
              <a:rPr kumimoji="0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96A8C2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website.</a:t>
            </a:r>
            <a:r>
              <a:rPr kumimoji="0" lang="en-IN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96A8C2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| SBI Logo using</a:t>
            </a:r>
            <a:r>
              <a:rPr kumimoji="0" lang="en-IN" sz="700" b="0" i="0" u="none" strike="noStrike" kern="1200" cap="none" spc="0" normalizeH="0" noProof="0" dirty="0" smtClean="0">
                <a:ln>
                  <a:noFill/>
                </a:ln>
                <a:solidFill>
                  <a:srgbClr val="96A8C2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for tanning and awareness purpose. </a:t>
            </a:r>
            <a:endParaRPr kumimoji="0" sz="700" b="0" i="0" u="none" strike="noStrike" kern="1200" cap="none" spc="0" normalizeH="0" baseline="0" noProof="0" dirty="0">
              <a:ln>
                <a:noFill/>
              </a:ln>
              <a:solidFill>
                <a:srgbClr val="96A8C2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7918704" y="4471416"/>
            <a:ext cx="950976" cy="18288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720840" y="4450080"/>
            <a:ext cx="3566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 dirty="0" smtClean="0">
                <a:ln>
                  <a:noFill/>
                </a:ln>
                <a:solidFill>
                  <a:srgbClr val="96A8C2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Password</a:t>
            </a:r>
            <a:endParaRPr kumimoji="0" sz="900" b="0" i="0" u="none" strike="noStrike" kern="1200" cap="none" spc="0" normalizeH="0" baseline="0" noProof="0" dirty="0">
              <a:ln>
                <a:noFill/>
              </a:ln>
              <a:solidFill>
                <a:srgbClr val="96A8C2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766559" y="4169665"/>
            <a:ext cx="3566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 dirty="0">
                <a:ln>
                  <a:noFill/>
                </a:ln>
                <a:solidFill>
                  <a:srgbClr val="96A8C2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User ID </a:t>
            </a:r>
          </a:p>
        </p:txBody>
      </p:sp>
      <p:pic>
        <p:nvPicPr>
          <p:cNvPr id="32" name="Picture 3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0840" y="3232651"/>
            <a:ext cx="762927" cy="262447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6722076" y="3617789"/>
            <a:ext cx="3655127" cy="3539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C2A3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   PERSONAL </a:t>
            </a:r>
            <a:r>
              <a:rPr kumimoji="0" sz="1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C2A3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B</a:t>
            </a:r>
            <a:r>
              <a:rPr kumimoji="0" lang="en-IN" sz="1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1C2A3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ANKING   </a:t>
            </a:r>
            <a:endParaRPr kumimoji="0" sz="1700" b="1" i="0" u="none" strike="noStrike" kern="1200" cap="none" spc="0" normalizeH="0" baseline="0" noProof="0" dirty="0">
              <a:ln>
                <a:noFill/>
              </a:ln>
              <a:solidFill>
                <a:srgbClr val="1C2A3F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804508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2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694944"/>
            <a:ext cx="109728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700" b="1" i="0" u="none" strike="noStrike" kern="1200" cap="none" spc="0" normalizeH="0" baseline="0" noProof="0">
                <a:ln>
                  <a:noFill/>
                </a:ln>
                <a:solidFill>
                  <a:srgbClr val="F8FAF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Attackers manipulate people before they attack 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71016"/>
            <a:ext cx="10789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96A8C2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The message is designed to trigger an emotion that short-circuits verification.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828800"/>
            <a:ext cx="3401568" cy="1261872"/>
          </a:xfrm>
          <a:prstGeom prst="roundRect">
            <a:avLst/>
          </a:prstGeom>
          <a:solidFill>
            <a:srgbClr val="18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Oval 5"/>
          <p:cNvSpPr/>
          <p:nvPr/>
        </p:nvSpPr>
        <p:spPr>
          <a:xfrm>
            <a:off x="804672" y="2011680"/>
            <a:ext cx="438912" cy="438912"/>
          </a:xfrm>
          <a:prstGeom prst="ellipse">
            <a:avLst/>
          </a:prstGeom>
          <a:solidFill>
            <a:srgbClr val="E2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04672" y="2011680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F8FAF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011680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F8FAF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URGENCY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514600"/>
            <a:ext cx="29260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DCE5F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“Do it now or access will stop.”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25696" y="1828800"/>
            <a:ext cx="3401568" cy="1261872"/>
          </a:xfrm>
          <a:prstGeom prst="roundRect">
            <a:avLst/>
          </a:prstGeom>
          <a:solidFill>
            <a:srgbClr val="18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4608576" y="2011680"/>
            <a:ext cx="438912" cy="438912"/>
          </a:xfrm>
          <a:prstGeom prst="ellipse">
            <a:avLst/>
          </a:prstGeom>
          <a:solidFill>
            <a:srgbClr val="2B6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608576" y="2011680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F8FAF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75504" y="2011680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F8FAF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AUTHORITY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08576" y="2514600"/>
            <a:ext cx="29260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DCE5F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“I’m from IT / Finance / your manager.”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1828800"/>
            <a:ext cx="3401568" cy="1261872"/>
          </a:xfrm>
          <a:prstGeom prst="roundRect">
            <a:avLst/>
          </a:prstGeom>
          <a:solidFill>
            <a:srgbClr val="18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8412480" y="2011680"/>
            <a:ext cx="438912" cy="438912"/>
          </a:xfrm>
          <a:prstGeom prst="ellipse">
            <a:avLst/>
          </a:prstGeom>
          <a:solidFill>
            <a:srgbClr val="F49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412480" y="2011680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F8FAF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79408" y="2011680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F8FAF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FEAR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2514600"/>
            <a:ext cx="29260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DCE5F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“Your account is compromised.”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3337560"/>
            <a:ext cx="3401568" cy="1261872"/>
          </a:xfrm>
          <a:prstGeom prst="roundRect">
            <a:avLst/>
          </a:prstGeom>
          <a:solidFill>
            <a:srgbClr val="18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804672" y="3520440"/>
            <a:ext cx="438912" cy="438912"/>
          </a:xfrm>
          <a:prstGeom prst="ellipse">
            <a:avLst/>
          </a:prstGeom>
          <a:solidFill>
            <a:srgbClr val="2FA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04672" y="3520440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F8FAF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3520440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F8FAF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REWARD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" y="4023360"/>
            <a:ext cx="29260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DCE5F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“Claim your prize / refund.”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25696" y="3337560"/>
            <a:ext cx="3401568" cy="1261872"/>
          </a:xfrm>
          <a:prstGeom prst="roundRect">
            <a:avLst/>
          </a:prstGeom>
          <a:solidFill>
            <a:srgbClr val="18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Oval 25"/>
          <p:cNvSpPr/>
          <p:nvPr/>
        </p:nvSpPr>
        <p:spPr>
          <a:xfrm>
            <a:off x="4608576" y="3520440"/>
            <a:ext cx="438912" cy="438912"/>
          </a:xfrm>
          <a:prstGeom prst="ellipse">
            <a:avLst/>
          </a:prstGeom>
          <a:solidFill>
            <a:srgbClr val="856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608576" y="3520440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F8FAF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75504" y="3520440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F8FAF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CURIOSITY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08576" y="4023360"/>
            <a:ext cx="29260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DCE5F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“See this confidential document.”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0" y="3337560"/>
            <a:ext cx="3401568" cy="1261872"/>
          </a:xfrm>
          <a:prstGeom prst="roundRect">
            <a:avLst/>
          </a:prstGeom>
          <a:solidFill>
            <a:srgbClr val="18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1" name="Oval 30"/>
          <p:cNvSpPr/>
          <p:nvPr/>
        </p:nvSpPr>
        <p:spPr>
          <a:xfrm>
            <a:off x="8412480" y="3520440"/>
            <a:ext cx="438912" cy="438912"/>
          </a:xfrm>
          <a:prstGeom prst="ellipse">
            <a:avLst/>
          </a:prstGeom>
          <a:solidFill>
            <a:srgbClr val="2AB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412480" y="3520440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F8FAF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79408" y="3520440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F8FAF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TRUST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0" y="4023360"/>
            <a:ext cx="29260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DCE5F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“It’s from someone you know.”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1792" y="5029200"/>
            <a:ext cx="10927080" cy="777240"/>
          </a:xfrm>
          <a:prstGeom prst="roundRect">
            <a:avLst/>
          </a:prstGeom>
          <a:solidFill>
            <a:srgbClr val="1D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859536" y="5257800"/>
            <a:ext cx="1143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2ABED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THE PATTERN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103120" y="5193792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F8FAF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Attacker → emotion → quick action → stolen information / money / access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1" i="0" u="none" strike="noStrike" kern="1200" cap="none" spc="0" normalizeH="0" baseline="0" noProof="0">
                <a:ln>
                  <a:noFill/>
                </a:ln>
                <a:solidFill>
                  <a:srgbClr val="96A8C2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3480066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2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694944"/>
            <a:ext cx="109728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700" b="1" i="0" u="none" strike="noStrike" kern="1200" cap="none" spc="0" normalizeH="0" baseline="0" noProof="0">
                <a:ln>
                  <a:noFill/>
                </a:ln>
                <a:solidFill>
                  <a:srgbClr val="F8FAF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Best practices to avoid becoming the next victim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71016"/>
            <a:ext cx="10789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96A8C2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Make these habits automatic at work and at home.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828800"/>
            <a:ext cx="3401568" cy="1143000"/>
          </a:xfrm>
          <a:prstGeom prst="roundRect">
            <a:avLst/>
          </a:prstGeom>
          <a:solidFill>
            <a:srgbClr val="18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21792" y="1828800"/>
            <a:ext cx="73152" cy="1143000"/>
          </a:xfrm>
          <a:prstGeom prst="roundRect">
            <a:avLst/>
          </a:prstGeom>
          <a:solidFill>
            <a:srgbClr val="E2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50392" y="1993392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F8FAF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STOP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2386584"/>
            <a:ext cx="28803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DCE5F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Pause when a message creates pressure.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5696" y="1828800"/>
            <a:ext cx="3401568" cy="1143000"/>
          </a:xfrm>
          <a:prstGeom prst="roundRect">
            <a:avLst/>
          </a:prstGeom>
          <a:solidFill>
            <a:srgbClr val="18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425696" y="1828800"/>
            <a:ext cx="73152" cy="1143000"/>
          </a:xfrm>
          <a:prstGeom prst="roundRect">
            <a:avLst/>
          </a:prstGeom>
          <a:solidFill>
            <a:srgbClr val="2B6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654296" y="1993392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F8FAF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CHECK SENDER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54296" y="2386584"/>
            <a:ext cx="28803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DCE5F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Read the full address, not just the name.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828800"/>
            <a:ext cx="3401568" cy="1143000"/>
          </a:xfrm>
          <a:prstGeom prst="roundRect">
            <a:avLst/>
          </a:prstGeom>
          <a:solidFill>
            <a:srgbClr val="18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8229600" y="1828800"/>
            <a:ext cx="73152" cy="1143000"/>
          </a:xfrm>
          <a:prstGeom prst="roundRect">
            <a:avLst/>
          </a:prstGeom>
          <a:solidFill>
            <a:srgbClr val="F49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458200" y="1993392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F8FAF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CHECK LINK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2386584"/>
            <a:ext cx="28803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DCE5F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Hover / inspect the URL before opening.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3246120"/>
            <a:ext cx="3401568" cy="1143000"/>
          </a:xfrm>
          <a:prstGeom prst="roundRect">
            <a:avLst/>
          </a:prstGeom>
          <a:solidFill>
            <a:srgbClr val="18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21792" y="3246120"/>
            <a:ext cx="73152" cy="1143000"/>
          </a:xfrm>
          <a:prstGeom prst="roundRect">
            <a:avLst/>
          </a:prstGeom>
          <a:solidFill>
            <a:srgbClr val="2FA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50392" y="3410712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F8FAF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VERIFY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" y="3803904"/>
            <a:ext cx="28803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DCE5F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Use a known number or official app/site.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25696" y="3246120"/>
            <a:ext cx="3401568" cy="1143000"/>
          </a:xfrm>
          <a:prstGeom prst="roundRect">
            <a:avLst/>
          </a:prstGeom>
          <a:solidFill>
            <a:srgbClr val="18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4425696" y="3246120"/>
            <a:ext cx="73152" cy="1143000"/>
          </a:xfrm>
          <a:prstGeom prst="roundRect">
            <a:avLst/>
          </a:prstGeom>
          <a:solidFill>
            <a:srgbClr val="2AB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654296" y="3410712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F8FAF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PROTECT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54296" y="3803904"/>
            <a:ext cx="28803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DCE5F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MFA • unique passwords • updates • security tools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0" y="3246120"/>
            <a:ext cx="3401568" cy="1143000"/>
          </a:xfrm>
          <a:prstGeom prst="roundRect">
            <a:avLst/>
          </a:prstGeom>
          <a:solidFill>
            <a:srgbClr val="18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8229600" y="3246120"/>
            <a:ext cx="73152" cy="1143000"/>
          </a:xfrm>
          <a:prstGeom prst="roundRect">
            <a:avLst/>
          </a:prstGeom>
          <a:solidFill>
            <a:srgbClr val="856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458200" y="3410712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F8FAF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REPORT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58200" y="3803904"/>
            <a:ext cx="28803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DCE5F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Send suspicious messages to IT/security.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" y="4846320"/>
            <a:ext cx="10927080" cy="914400"/>
          </a:xfrm>
          <a:prstGeom prst="roundRect">
            <a:avLst/>
          </a:prstGeom>
          <a:solidFill>
            <a:srgbClr val="2B6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68680" y="5074920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F8FAF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THE 10-SECOND CHECK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0" y="5010912"/>
            <a:ext cx="8366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F8FAF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SENDER  •  MESSAGE  •  LINK  •  REQUEST  →  VERIFY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1" i="0" u="none" strike="noStrike" kern="1200" cap="none" spc="0" normalizeH="0" baseline="0" noProof="0">
                <a:ln>
                  <a:noFill/>
                </a:ln>
                <a:solidFill>
                  <a:srgbClr val="96A8C2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34431617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2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694944"/>
            <a:ext cx="109728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700" b="1" i="0" u="none" strike="noStrike" kern="1200" cap="none" spc="0" normalizeH="0" baseline="0" noProof="0">
                <a:ln>
                  <a:noFill/>
                </a:ln>
                <a:solidFill>
                  <a:srgbClr val="F8FAF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Real-world scenarios — what would YOU do?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71016"/>
            <a:ext cx="10789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96A8C2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Discuss first. Then reveal the safe action.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783080"/>
            <a:ext cx="3438144" cy="2331720"/>
          </a:xfrm>
          <a:prstGeom prst="roundRect">
            <a:avLst/>
          </a:prstGeom>
          <a:solidFill>
            <a:srgbClr val="18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77240" y="1965960"/>
            <a:ext cx="1115568" cy="310896"/>
          </a:xfrm>
          <a:prstGeom prst="roundRect">
            <a:avLst/>
          </a:prstGeom>
          <a:solidFill>
            <a:srgbClr val="2B6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77240" y="1984248"/>
            <a:ext cx="1115568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F8FAF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SCENARIO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487168"/>
            <a:ext cx="2971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F8FAF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Boss messages: “Buy 5 gift cards now.”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3273552"/>
            <a:ext cx="3017520" cy="548640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14400" y="338328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1" i="0" u="none" strike="noStrike" kern="1200" cap="none" spc="0" normalizeH="0" baseline="0" noProof="0">
                <a:ln>
                  <a:noFill/>
                </a:ln>
                <a:solidFill>
                  <a:srgbClr val="DCE5F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SAFE: Verify through a known phone number.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61688" y="1783080"/>
            <a:ext cx="3438144" cy="2331720"/>
          </a:xfrm>
          <a:prstGeom prst="roundRect">
            <a:avLst/>
          </a:prstGeom>
          <a:solidFill>
            <a:srgbClr val="18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544568" y="1965960"/>
            <a:ext cx="1115568" cy="310896"/>
          </a:xfrm>
          <a:prstGeom prst="roundRect">
            <a:avLst/>
          </a:prstGeom>
          <a:solidFill>
            <a:srgbClr val="2B6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544568" y="1984248"/>
            <a:ext cx="1115568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F8FAF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SCENARIO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2487168"/>
            <a:ext cx="2971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F8FAF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Bank SMS: “Account blocked — login now.”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44568" y="3273552"/>
            <a:ext cx="3017520" cy="548640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681728" y="338328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1" i="0" u="none" strike="noStrike" kern="1200" cap="none" spc="0" normalizeH="0" baseline="0" noProof="0">
                <a:ln>
                  <a:noFill/>
                </a:ln>
                <a:solidFill>
                  <a:srgbClr val="DCE5F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SAFE: Open the official bank app/site yourself.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29016" y="1783080"/>
            <a:ext cx="3438144" cy="2331720"/>
          </a:xfrm>
          <a:prstGeom prst="roundRect">
            <a:avLst/>
          </a:prstGeom>
          <a:solidFill>
            <a:srgbClr val="18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311896" y="1965960"/>
            <a:ext cx="1115568" cy="310896"/>
          </a:xfrm>
          <a:prstGeom prst="roundRect">
            <a:avLst/>
          </a:prstGeom>
          <a:solidFill>
            <a:srgbClr val="2B6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311896" y="1984248"/>
            <a:ext cx="1115568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F8FAF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SCENARIO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11896" y="2487168"/>
            <a:ext cx="2971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F8FAF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Known colleague sends unexpected .VBS.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11896" y="3273552"/>
            <a:ext cx="3017520" cy="548640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449056" y="338328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1" i="0" u="none" strike="noStrike" kern="1200" cap="none" spc="0" normalizeH="0" baseline="0" noProof="0">
                <a:ln>
                  <a:noFill/>
                </a:ln>
                <a:solidFill>
                  <a:srgbClr val="DCE5F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SAFE: Don’t open it; verify and report.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1" i="0" u="none" strike="noStrike" kern="1200" cap="none" spc="0" normalizeH="0" baseline="0" noProof="0">
                <a:ln>
                  <a:noFill/>
                </a:ln>
                <a:solidFill>
                  <a:srgbClr val="96A8C2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07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" y="6473952"/>
            <a:ext cx="10058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1200" cap="none" spc="0" normalizeH="0" baseline="0" noProof="0">
                <a:ln>
                  <a:noFill/>
                </a:ln>
                <a:solidFill>
                  <a:srgbClr val="96A8C2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Real-world examples: 2026 CERT-In WhatsApp malware campaign; India bank-impersonation scams; common BEC scenarios.</a:t>
            </a:r>
          </a:p>
        </p:txBody>
      </p:sp>
    </p:spTree>
    <p:extLst>
      <p:ext uri="{BB962C8B-B14F-4D97-AF65-F5344CB8AC3E}">
        <p14:creationId xmlns:p14="http://schemas.microsoft.com/office/powerpoint/2010/main" val="30029726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320040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2AB8DC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</a:t>
            </a:r>
            <a:r>
              <a:rPr kumimoji="0" lang="en-IN" sz="900" b="1" i="0" u="none" strike="noStrike" kern="1200" cap="none" spc="0" normalizeH="0" baseline="0" noProof="0" dirty="0">
                <a:ln>
                  <a:noFill/>
                </a:ln>
                <a:solidFill>
                  <a:srgbClr val="2ABED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Q</a:t>
            </a:r>
            <a:r>
              <a:rPr kumimoji="0" lang="en-IN" sz="900" b="1" i="0" u="none" strike="noStrike" kern="1200" cap="none" spc="0" normalizeH="0" baseline="0" noProof="0" dirty="0" smtClean="0">
                <a:ln>
                  <a:noFill/>
                </a:ln>
                <a:solidFill>
                  <a:srgbClr val="2ABED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UIZZES</a:t>
            </a:r>
            <a:endParaRPr kumimoji="0" sz="900" b="1" i="0" u="none" strike="noStrike" kern="1200" cap="none" spc="0" normalizeH="0" baseline="0" noProof="0" dirty="0">
              <a:ln>
                <a:noFill/>
              </a:ln>
              <a:solidFill>
                <a:srgbClr val="2ABEDD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1" i="0" u="none" strike="noStrike" kern="1200" cap="none" spc="0" normalizeH="0" baseline="0" noProof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What would you do?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307592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9DABC2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Discuss the answer before revealing 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828800"/>
            <a:ext cx="3429000" cy="3246120"/>
          </a:xfrm>
          <a:prstGeom prst="roundRect">
            <a:avLst/>
          </a:prstGeom>
          <a:solidFill>
            <a:srgbClr val="101D34"/>
          </a:solidFill>
          <a:ln>
            <a:solidFill>
              <a:srgbClr val="24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95528" y="2011680"/>
            <a:ext cx="530352" cy="310896"/>
          </a:xfrm>
          <a:prstGeom prst="roundRect">
            <a:avLst/>
          </a:prstGeom>
          <a:solidFill>
            <a:srgbClr val="216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95528" y="2020824"/>
            <a:ext cx="530352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Q1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487168"/>
            <a:ext cx="2971800" cy="8046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“Your bank account will be blocked in 15 minutes.”
What is the safest next step?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" y="3493008"/>
            <a:ext cx="2971800" cy="347472"/>
          </a:xfrm>
          <a:prstGeom prst="roundRect">
            <a:avLst/>
          </a:prstGeom>
          <a:solidFill>
            <a:srgbClr val="1D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23544" y="3547872"/>
            <a:ext cx="2697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E2E9F2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A  Click the message link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8" y="3931920"/>
            <a:ext cx="2971800" cy="347472"/>
          </a:xfrm>
          <a:prstGeom prst="roundRect">
            <a:avLst/>
          </a:prstGeom>
          <a:solidFill>
            <a:srgbClr val="1D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23544" y="3986783"/>
            <a:ext cx="2697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E2E9F2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B  Open the official bank app/site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8" y="4370831"/>
            <a:ext cx="2971800" cy="347472"/>
          </a:xfrm>
          <a:prstGeom prst="roundRect">
            <a:avLst/>
          </a:prstGeom>
          <a:solidFill>
            <a:srgbClr val="1D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23544" y="4425696"/>
            <a:ext cx="2697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E2E9F2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  Reply with your details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8" y="4800600"/>
            <a:ext cx="1645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2AB8DC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Answer: 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61688" y="1828800"/>
            <a:ext cx="3429000" cy="3246120"/>
          </a:xfrm>
          <a:prstGeom prst="roundRect">
            <a:avLst/>
          </a:prstGeom>
          <a:solidFill>
            <a:srgbClr val="101D34"/>
          </a:solidFill>
          <a:ln>
            <a:solidFill>
              <a:srgbClr val="24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4562856" y="2011680"/>
            <a:ext cx="530352" cy="310896"/>
          </a:xfrm>
          <a:prstGeom prst="roundRect">
            <a:avLst/>
          </a:prstGeom>
          <a:solidFill>
            <a:srgbClr val="216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562856" y="2020824"/>
            <a:ext cx="530352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Q2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62856" y="2487168"/>
            <a:ext cx="2971800" cy="8046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Your manager asks on WhatsApp for gift-card codes.
What should you do?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62856" y="3493008"/>
            <a:ext cx="2971800" cy="347472"/>
          </a:xfrm>
          <a:prstGeom prst="roundRect">
            <a:avLst/>
          </a:prstGeom>
          <a:solidFill>
            <a:srgbClr val="1D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690872" y="3547872"/>
            <a:ext cx="2697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E2E9F2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A  Send them quickly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62856" y="3931920"/>
            <a:ext cx="2971800" cy="347472"/>
          </a:xfrm>
          <a:prstGeom prst="roundRect">
            <a:avLst/>
          </a:prstGeom>
          <a:solidFill>
            <a:srgbClr val="1D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690872" y="3986783"/>
            <a:ext cx="2697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E2E9F2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B  Verify using a known number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62856" y="4370831"/>
            <a:ext cx="2971800" cy="347472"/>
          </a:xfrm>
          <a:prstGeom prst="roundRect">
            <a:avLst/>
          </a:prstGeom>
          <a:solidFill>
            <a:srgbClr val="1D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690872" y="4425696"/>
            <a:ext cx="2697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E2E9F2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  Ask for their password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62856" y="4800600"/>
            <a:ext cx="1645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2AB8DC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Answer: B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29016" y="1828800"/>
            <a:ext cx="3429000" cy="3246120"/>
          </a:xfrm>
          <a:prstGeom prst="roundRect">
            <a:avLst/>
          </a:prstGeom>
          <a:solidFill>
            <a:srgbClr val="101D34"/>
          </a:solidFill>
          <a:ln>
            <a:solidFill>
              <a:srgbClr val="24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8330184" y="2011680"/>
            <a:ext cx="530352" cy="310896"/>
          </a:xfrm>
          <a:prstGeom prst="roundRect">
            <a:avLst/>
          </a:prstGeom>
          <a:solidFill>
            <a:srgbClr val="216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330184" y="2020824"/>
            <a:ext cx="530352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Q3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30184" y="2487168"/>
            <a:ext cx="2971800" cy="8046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A colleague sends an unexpected .VBS attachment.
What should you do?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330184" y="3493008"/>
            <a:ext cx="2971800" cy="347472"/>
          </a:xfrm>
          <a:prstGeom prst="roundRect">
            <a:avLst/>
          </a:prstGeom>
          <a:solidFill>
            <a:srgbClr val="1D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458200" y="3547872"/>
            <a:ext cx="2697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E2E9F2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A  Open it because it’s a colleague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330184" y="3931920"/>
            <a:ext cx="2971800" cy="347472"/>
          </a:xfrm>
          <a:prstGeom prst="roundRect">
            <a:avLst/>
          </a:prstGeom>
          <a:solidFill>
            <a:srgbClr val="1D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8458200" y="3986783"/>
            <a:ext cx="2697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E2E9F2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B  Verify and report it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330184" y="4370831"/>
            <a:ext cx="2971800" cy="347472"/>
          </a:xfrm>
          <a:prstGeom prst="roundRect">
            <a:avLst/>
          </a:prstGeom>
          <a:solidFill>
            <a:srgbClr val="1D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8458200" y="4425696"/>
            <a:ext cx="2697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E2E9F2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  Forward it to others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30184" y="4800600"/>
            <a:ext cx="1645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2AB8DC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Answer: B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109960" y="6473952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DABC2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0</a:t>
            </a:r>
            <a:r>
              <a:rPr kumimoji="0" lang="en-IN" sz="9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DABC2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8</a:t>
            </a:r>
            <a:endParaRPr kumimoji="0" sz="900" b="1" i="0" u="none" strike="noStrike" kern="1200" cap="none" spc="0" normalizeH="0" baseline="0" noProof="0" dirty="0">
              <a:ln>
                <a:noFill/>
              </a:ln>
              <a:solidFill>
                <a:srgbClr val="9DABC2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482908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715000" y="3992760"/>
            <a:ext cx="76200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89474" y="1874490"/>
            <a:ext cx="4413051" cy="8228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ts val="64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400" b="1" i="0" u="none" strike="noStrike" kern="1200" cap="none" spc="0" normalizeH="0" baseline="0" noProof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61296" y="4640460"/>
            <a:ext cx="2869406" cy="342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Jayakrushna Behera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56891" y="2637162"/>
            <a:ext cx="5747622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srgbClr val="2ABED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Stay alert. Verify before you trust.</a:t>
            </a:r>
          </a:p>
        </p:txBody>
      </p:sp>
    </p:spTree>
    <p:extLst>
      <p:ext uri="{BB962C8B-B14F-4D97-AF65-F5344CB8AC3E}">
        <p14:creationId xmlns:p14="http://schemas.microsoft.com/office/powerpoint/2010/main" val="10254356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5.xml><?xml version="1.0" encoding="utf-8"?>
<a:theme xmlns:a="http://schemas.openxmlformats.org/drawingml/2006/main" name="4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6.xml><?xml version="1.0" encoding="utf-8"?>
<a:theme xmlns:a="http://schemas.openxmlformats.org/drawingml/2006/main" name="5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7.xml><?xml version="1.0" encoding="utf-8"?>
<a:theme xmlns:a="http://schemas.openxmlformats.org/drawingml/2006/main" name="6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8.xml><?xml version="1.0" encoding="utf-8"?>
<a:theme xmlns:a="http://schemas.openxmlformats.org/drawingml/2006/main" name="7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9.xml><?xml version="1.0" encoding="utf-8"?>
<a:theme xmlns:a="http://schemas.openxmlformats.org/drawingml/2006/main" name="8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10.xml><?xml version="1.0" encoding="utf-8"?>
<a:theme xmlns:a="http://schemas.openxmlformats.org/drawingml/2006/main" name="9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820</Words>
  <Application>Microsoft Office PowerPoint</Application>
  <PresentationFormat>Widescreen</PresentationFormat>
  <Paragraphs>155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10</vt:i4>
      </vt:variant>
      <vt:variant>
        <vt:lpstr>Slide Titles</vt:lpstr>
      </vt:variant>
      <vt:variant>
        <vt:i4>10</vt:i4>
      </vt:variant>
    </vt:vector>
  </HeadingPairs>
  <TitlesOfParts>
    <vt:vector size="25" baseType="lpstr">
      <vt:lpstr>Aptos</vt:lpstr>
      <vt:lpstr>Arial</vt:lpstr>
      <vt:lpstr>Calibri</vt:lpstr>
      <vt:lpstr>Inter</vt:lpstr>
      <vt:lpstr>Plus Jakarta Sans</vt:lpstr>
      <vt:lpstr>1_Office Theme</vt:lpstr>
      <vt:lpstr>2_Office Theme</vt:lpstr>
      <vt:lpstr>3_Office Theme</vt:lpstr>
      <vt:lpstr>Office Theme</vt:lpstr>
      <vt:lpstr>4_Office Theme</vt:lpstr>
      <vt:lpstr>5_Office Theme</vt:lpstr>
      <vt:lpstr>6_Office Theme</vt:lpstr>
      <vt:lpstr>7_Office Theme</vt:lpstr>
      <vt:lpstr>8_Office Theme</vt:lpstr>
      <vt:lpstr>9_Office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Jayakrushna Behera</dc:creator>
  <cp:keywords>Phishing</cp:keywords>
  <cp:lastModifiedBy>JB</cp:lastModifiedBy>
  <cp:revision>8</cp:revision>
  <dcterms:created xsi:type="dcterms:W3CDTF">2026-10-02T18:03:40Z</dcterms:created>
  <dcterms:modified xsi:type="dcterms:W3CDTF">2026-10-02T18:24:14Z</dcterms:modified>
</cp:coreProperties>
</file>